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e2865bd6-8b75-5caa-d910-6afae19bacd4}">
          <p14:sldIdLst>
            <p14:sldId id="256"/>
            <p14:sldId id="257"/>
          </p14:sldIdLst>
        </p14:section>
        <p14:section name="Metodología" id="{3d65c644-ca6b-a8b4-14a8-9963aa80e86b}">
          <p14:sldIdLst>
            <p14:sldId id="258"/>
            <p14:sldId id="259"/>
            <p14:sldId id="260"/>
            <p14:sldId id="261"/>
          </p14:sldIdLst>
        </p14:section>
        <p14:section name="Resultados" id="{2d9be6bf-227a-3acf-2b9c-f01c4a6f5789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Conclusiones" id="{2e559516-77bf-e7c9-f8f5-47963c420f49}">
          <p14:sldIdLst>
            <p14:sldId id="268"/>
            <p14:sldId id="269"/>
            <p14:sldId id="270"/>
          </p14:sldIdLst>
        </p14:section>
        <p14:section name="Cierre" id="{f29352e6-c1af-c463-05e9-54b2975df260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s-CL"/>
              <a:t>7/23/19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CL"/>
              <a:t>Click to edit Master text styles</a:t>
            </a:r>
          </a:p>
          <a:p>
            <a:pPr lvl="1"/>
            <a:r>
              <a:rPr lang="es-CL"/>
              <a:t>Second level</a:t>
            </a:r>
          </a:p>
          <a:p>
            <a:pPr lvl="2"/>
            <a:r>
              <a:rPr lang="es-CL"/>
              <a:t>Third level</a:t>
            </a:r>
          </a:p>
          <a:p>
            <a:pPr lvl="3"/>
            <a:r>
              <a:rPr lang="es-CL"/>
              <a:t>Fourth level</a:t>
            </a:r>
          </a:p>
          <a:p>
            <a:pPr lvl="4"/>
            <a:r>
              <a:rPr lang="es-CL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s-CL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Nayadeth Garrido · 0:00–0:15. Guion: Hola, somos Víctor Bravo, Nayadeth Garrido y Mauricio Cid. Presentamos el cierre de nuestro proyecto sobre el riesgo de enfermedad coronaria con los datos de Framingham.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Nayadeth Garrido · 0:15–0:50. Guion: La enfermedad coronaria es una de las principales causas de muerte, y saber quién tiene más riesgo permite priorizar controles. Usamos Framingham: 4.240 personas, 15 predictores y la variable TenYearCHD. Solo el 15 % desarrolló CHD, así que los casos son la clase minoritaria, algo que va a importar al modelar. Nuestra pregunta: qué factores se asocian al riesgo y qué tan bien permiten identificar a quienes lo desarrollarán.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Nayadeth Garrido · 0:50–1:15. Guion: No son tres trabajos separados. La S1 describió los datos; la S2 comprobó qué resultados eran firmes; y la S3 usó solo lo validado para construir y evaluar el modelo. En cada fase vamos a mostrar qué decisión tomamos gracias a la anterior.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Nayadeth Garrido · 1:15–1:55. Guion: En la S1 vimos que 582 filas, un 13,7 %, tenían algún faltante, sobre todo en glucosa. Las mayores diferencias entre quienes desarrollaron CHD y quienes no estaban en edad, presión sistólica y glucosa; además, la CHD era más frecuente en hombres y en hipertensos. Esas variables quedaron como candidatas.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Nayadeth Garrido · 1:55–2:30. Guion: En la S2 validamos con 10.000 remuestras. Las correlaciones de las presiones fueron estables y el tabaquismo apareció asociado al ajustar por edad. La glucosa resultó sensible a atípicos y los subgrupos chicos poco confiables. De ahí salieron las recomendaciones que aplicamos en la S3.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Nayadeth Garrido · 2:30–3:15. Guion: Eliminar las filas incompletas costaba 87 casos de CHD, así que imputamos por regresión, usando las relaciones que la S2 validó, y siempre ajustando solo con entrenamiento. La estrategia casi no cambia el modelo final: el AUC va de 0,708 a 0,711 y los mismos cinco efectos son significativos con las tres; eliminar solo ensancha los intervalos. Luego construimos tres modelos: uno con la evidencia de S1 y S2, uno por stepwise AIC y uno por BIC. Elegimos el M1. Paso la palabra a Víctor.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Víctor Bravo · 3:15–4:00. Guion: Este es el modelo final. Cinco de las seis variables son significativas y todas aumentan el riesgo. La más fuerte es la edad, seguida del sexo masculino. Los intervalos tradicionales y los bootstrap prácticamente coinciden; Mauricio lo explicará. La hipertensión es la excepción: su intervalo incluye el 1.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Víctor Bravo · 4:00–4:40. Guion: Traducido a unidades clínicas: cada 10 años de edad la odds de CHD se multiplica por 2,14, es decir, más que se duplica. Los hombres tienen 49 % más odds que una mujer comparable. Cada 10 cigarrillos diarios suman 27 % y cada 10 mmHg de sistólica, 14 %. La glucosa aporta poco pero de forma segura. El diagnóstico de hipertensión tiene una dirección incierta: su intervalo incluye el 1 una vez que conocemos la sistólica.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Víctor Bravo · 4:40–5:20. Guion: Sin ponderar, el modelo tiene 85 % de accuracy, pero solo porque casi todo lo clasifica como sano: detecta 12 de 193 casos. Al ponderar las clases, como recomendó la S2, detecta 122, con el mismo AUC. Los tres modelos discriminan parecido; elegimos M1 por su recall, su simplicidad y su respaldo en S1 y S2.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Víctor Bravo · 5:20–5:50. Guion: El AUC del modelo final es 0,708. Significa que si tomamos una persona que desarrolló CHD y otra que no, en el 71 % de los casos el modelo le asigna más riesgo a la primera. Es un desempeño aceptable, y la diferencia entre entrenamiento y prueba es pequeña.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Víctor Bravo · 5:50–6:30. Guion: En prueba hay 193 personas que desarrollaron CHD; el modelo detecta 122. Los 71 falsos negativos son lo más grave: personas que enfermarán y no serían citadas a control. Los 335 falsos positivos son personas sanas que tendrían un control extra, un costo mucho menor. Paso la palabra a Mauricio.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Mauricio Cid · 6:30–7:20. Guion: Para ver si el modelo depende de la muestra, aplicamos la misma técnica de la S2: remuestreamos 10.000 veces el entrenamiento y reajustamos el modelo cada vez. Cinco efectos son estables: casi nunca cambian de signo. La hipertensión es la excepción: en un 6 % de las remuestras su efecto se invierte, así que no podemos afirmar ni siquiera su dirección. Los intervalos bootstrap coinciden con los tradicionales porque estos ya usaban errores robustos; el bootstrap confirma que nuestras estimaciones son confiables.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Mauricio Cid · 7:20–7:55. Guion: Respondiendo la pregunta: los factores asociados al riesgo, con efectos estables, son la edad, el sexo masculino, la presión sistólica, el tabaquismo y la glucosa. La edad es el más fuerte. Con ellos el modelo discrimina de forma aceptable y detecta 63 % de quienes desarrollarán CHD.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Mauricio Cid · 7:55–8:35. Guion: Cuatro recomendaciones. Primero, priorizar el tamizaje por edad. Segundo, medir presión sistólica y tabaquismo en cada control: son modificables y su asociación es estable. Tercero, usar el modelo ponderado para decidir a quién citar y el no ponderado para informar el riesgo, porque el ponderado lo sobreestima. Y cuarto, validarlo en una población actual antes de usarlo.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Mauricio Cid · 8:35–9:05. Guion: Tenemos limitaciones: son datos observacionales de una cohorte antigua, la imputación supone que los faltantes son MAR y el modelo ponderado sobreestima el riesgo. Como trabajo futuro: modelar la edad de forma no lineal, usar imputación múltiple, optimizar el umbral y validar con datos actuales.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Presenta: Mauricio Cid · 9:05–9:25 (despedida de los tres). Guion: En una frase: con datos validados en tres fases, identificamos cinco factores estables que permiten priorizar la prevención de la enfermedad coronaria. Gracias, profesor. (Todos se despiden.)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CL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s-CL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s-CL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s-CL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000" dirty="0">
                <a:solidFill>
                  <a:srgbClr val="7A8899"/>
                </a:solidFill>
              </a:rPr>
              <a:t>Framingham Heart Study · MCDI501 Sumativa 3</a:t>
            </a:r>
            <a:endParaRPr lang="es-C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1003</a:t>
            </a:fld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null</a:t>
            </a:fld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s-CL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asociados al riesgo de enfermedad coronaria a 10 años</a:t>
            </a:r>
            <a:endParaRPr lang="es-CL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2000" dirty="0">
                <a:solidFill>
                  <a:srgbClr val="CADCF0"/>
                </a:solidFill>
              </a:rPr>
              <a:t>Del análisis exploratorio al modelo: Framingham Heart Study (S1 → S2 → S3)</a:t>
            </a:r>
            <a:endParaRPr lang="es-CL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s-CL" sz="1500" b="1" dirty="0">
                <a:solidFill>
                  <a:srgbClr val="FFFFFF"/>
                </a:solidFill>
              </a:rPr>
              <a:t>Víctor Bravo Barrera · Nayadeth Garrido Ibáñez · Mauricio Cid</a:t>
            </a:r>
            <a:endParaRPr lang="es-CL" sz="1500" dirty="0"/>
          </a:p>
          <a:p>
            <a:pPr indent="0" marL="0">
              <a:spcAft>
                <a:spcPts val="400"/>
              </a:spcAft>
              <a:buNone/>
            </a:pPr>
            <a:r>
              <a:rPr lang="es-CL" sz="1500" dirty="0">
                <a:solidFill>
                  <a:srgbClr val="FFFFFF"/>
                </a:solidFill>
              </a:rPr>
              <a:t>MCDI501 Estadística Computacional para la Toma de Decisiones · Prof. Jean Paul Maidana González</a:t>
            </a:r>
            <a:endParaRPr lang="es-CL" sz="1500" dirty="0"/>
          </a:p>
          <a:p>
            <a:pPr indent="0" marL="0">
              <a:spcAft>
                <a:spcPts val="400"/>
              </a:spcAft>
              <a:buNone/>
            </a:pPr>
            <a:r>
              <a:rPr lang="es-CL" sz="1500" dirty="0">
                <a:solidFill>
                  <a:srgbClr val="FFFFFF"/>
                </a:solidFill>
              </a:rPr>
              <a:t>Magíster en Ciencia de Datos e IA · Universidad Andrés Bello · Octubre 2026</a:t>
            </a:r>
            <a:endParaRPr lang="es-CL" sz="1500" dirty="0"/>
          </a:p>
        </p:txBody>
      </p:sp>
      <p:sp>
        <p:nvSpPr>
          <p:cNvPr id="5" name="Shape 3"/>
          <p:cNvSpPr/>
          <p:nvPr/>
        </p:nvSpPr>
        <p:spPr>
          <a:xfrm>
            <a:off x="10332720" y="640080"/>
            <a:ext cx="1097280" cy="1097280"/>
          </a:xfrm>
          <a:prstGeom prst="ellipse">
            <a:avLst/>
          </a:prstGeom>
          <a:solidFill>
            <a:srgbClr val="B3202A"/>
          </a:solidFill>
          <a:ln w="12700">
            <a:solidFill>
              <a:srgbClr val="B32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s-C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CHD</a:t>
            </a:r>
            <a:endParaRPr lang="es-CL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¿quién desarrollará CHD?</a:t>
            </a:r>
            <a:endParaRPr lang="es-CL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La enfermedad coronaria (CHD) es una de las </a:t>
            </a:r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principales causas de muerte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Saber qué factores aumentan el riesgo permite priorizar a quién citar a control y dónde intervenir.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Datos: </a:t>
            </a:r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Framingham Heart Study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 (Kaggle). Objetivo: </a:t>
            </a:r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TenYearCHD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, CHD en los 10 años siguientes.</a:t>
            </a:r>
            <a:endParaRPr lang="es-CL" sz="1600" dirty="0"/>
          </a:p>
        </p:txBody>
      </p:sp>
      <p:sp>
        <p:nvSpPr>
          <p:cNvPr id="4" name="Shape 2"/>
          <p:cNvSpPr/>
          <p:nvPr/>
        </p:nvSpPr>
        <p:spPr>
          <a:xfrm>
            <a:off x="7040880" y="1371600"/>
            <a:ext cx="4572000" cy="301752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1554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4000" b="1" dirty="0">
                <a:solidFill>
                  <a:srgbClr val="2E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4.240</a:t>
            </a:r>
            <a:endParaRPr lang="es-CL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3042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personas</a:t>
            </a:r>
            <a:endParaRPr lang="es-CL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1554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4000" b="1" dirty="0">
                <a:solidFill>
                  <a:srgbClr val="2E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s-CL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23042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predictores</a:t>
            </a:r>
            <a:endParaRPr lang="es-CL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926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4000" b="1" dirty="0">
                <a:solidFill>
                  <a:srgbClr val="B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15,19 %</a:t>
            </a:r>
            <a:endParaRPr lang="es-CL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36758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desarrolló CHD (644 casos): clase minoritaria</a:t>
            </a:r>
            <a:endParaRPr lang="es-CL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800" b="1" dirty="0">
                <a:solidFill>
                  <a:srgbClr val="B3202A"/>
                </a:solidFill>
              </a:rPr>
              <a:t>Pregunta de investigación: </a:t>
            </a:r>
            <a:pPr indent="0" marL="0">
              <a:buNone/>
            </a:pPr>
            <a:r>
              <a:rPr lang="es-CL" sz="1800" dirty="0">
                <a:solidFill>
                  <a:srgbClr val="1B2333"/>
                </a:solidFill>
              </a:rPr>
              <a:t>¿qué factores se asocian al riesgo de CHD a 10 años y qué tan bien permiten identificar a las personas que la desarrollarán?</a:t>
            </a:r>
            <a:endParaRPr lang="es-C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2</a:t>
            </a:fld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proyecto, tres fases: cada una decidió la siguiente</a:t>
            </a:r>
            <a:endParaRPr lang="es-CL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· Exploración</a:t>
            </a:r>
            <a:endParaRPr lang="es-CL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FFFFFF"/>
                </a:solidFill>
              </a:rPr>
              <a:t>Descriptiva, faltantes y atípicos</a:t>
            </a:r>
            <a:endParaRPr lang="es-CL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FFFFFF"/>
                </a:solidFill>
              </a:rPr>
              <a:t>IC y pruebas de hipótesis</a:t>
            </a:r>
            <a:endParaRPr lang="es-CL" sz="1600" dirty="0"/>
          </a:p>
        </p:txBody>
      </p:sp>
      <p:sp>
        <p:nvSpPr>
          <p:cNvPr id="6" name="Shape 4"/>
          <p:cNvSpPr/>
          <p:nvPr/>
        </p:nvSpPr>
        <p:spPr>
          <a:xfrm>
            <a:off x="3913632" y="2423160"/>
            <a:ext cx="457200" cy="457200"/>
          </a:xfrm>
          <a:prstGeom prst="rightArrow">
            <a:avLst/>
          </a:prstGeom>
          <a:solidFill>
            <a:srgbClr val="7A8899"/>
          </a:solidFill>
          <a:ln w="12700">
            <a:solidFill>
              <a:srgbClr val="7A88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0" y="14630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 · Validación</a:t>
            </a:r>
            <a:endParaRPr lang="es-CL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2860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FFFFFF"/>
                </a:solidFill>
              </a:rPr>
              <a:t>Bootstrap y permutación de la S1</a:t>
            </a:r>
            <a:endParaRPr lang="es-CL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FFFFFF"/>
                </a:solidFill>
              </a:rPr>
              <a:t>Correlaciones, Monte Carlo y robustez</a:t>
            </a:r>
            <a:endParaRPr lang="es-CL" sz="1600" dirty="0"/>
          </a:p>
        </p:txBody>
      </p:sp>
      <p:sp>
        <p:nvSpPr>
          <p:cNvPr id="10" name="Shape 8"/>
          <p:cNvSpPr/>
          <p:nvPr/>
        </p:nvSpPr>
        <p:spPr>
          <a:xfrm>
            <a:off x="7799832" y="2423160"/>
            <a:ext cx="457200" cy="457200"/>
          </a:xfrm>
          <a:prstGeom prst="rightArrow">
            <a:avLst/>
          </a:prstGeom>
          <a:solidFill>
            <a:srgbClr val="7A8899"/>
          </a:solidFill>
          <a:ln w="12700">
            <a:solidFill>
              <a:srgbClr val="7A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14630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B3202A"/>
          </a:solidFill>
          <a:ln w="12700">
            <a:solidFill>
              <a:srgbClr val="B320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964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· Modelamiento</a:t>
            </a:r>
            <a:endParaRPr lang="es-CL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22860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FFFFFF"/>
                </a:solidFill>
              </a:rPr>
              <a:t>Imputación sin fuga y 3 modelos logísticos</a:t>
            </a:r>
            <a:endParaRPr lang="es-CL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FFFFFF"/>
                </a:solidFill>
              </a:rPr>
              <a:t>Bootstrap del modelo final</a:t>
            </a:r>
            <a:endParaRPr lang="es-CL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06240"/>
            <a:ext cx="11064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s-CL" sz="1700" b="1" dirty="0">
                <a:solidFill>
                  <a:srgbClr val="1B2333"/>
                </a:solidFill>
              </a:rPr>
              <a:t>Cada fase usó solo lo que la anterior dejó firme: la S2 validó los hallazgos de la S1 y la S3 aplicó sus recomendaciones.</a:t>
            </a:r>
            <a:endParaRPr lang="es-C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3</a:t>
            </a:fld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S1: dónde estaban las diferencias y qué faltaba</a:t>
            </a:r>
            <a:endParaRPr lang="es-CL" sz="2800" dirty="0"/>
          </a:p>
        </p:txBody>
      </p:sp>
      <p:pic>
        <p:nvPicPr>
          <p:cNvPr id="3" name="Image 0" descr="Porcentaje de faltantes por variable en la S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76072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6634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100" dirty="0">
                <a:solidFill>
                  <a:srgbClr val="7A8899"/>
                </a:solidFill>
              </a:rPr>
              <a:t>Faltantes por variable (S1)</a:t>
            </a:r>
            <a:endParaRPr lang="es-CL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325880"/>
            <a:ext cx="493776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1B2333"/>
                </a:solidFill>
              </a:rPr>
              <a:t>582 filas incompletas (13,7 %)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; glucosa la más afectada (9,15 %).</a:t>
            </a:r>
            <a:endParaRPr lang="es-CL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dirty="0">
                <a:solidFill>
                  <a:srgbClr val="1B2333"/>
                </a:solidFill>
              </a:rPr>
              <a:t>Los 29 faltantes de cigarrillos son todos de fumadores.</a:t>
            </a:r>
            <a:endParaRPr lang="es-CL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1B2333"/>
                </a:solidFill>
              </a:rPr>
              <a:t>Mayores diferencias CHD vs no CHD: 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edad (g = 0,64), presión sistólica (0,62), glucosa (0,35).</a:t>
            </a:r>
            <a:endParaRPr lang="es-CL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dirty="0">
                <a:solidFill>
                  <a:srgbClr val="1B2333"/>
                </a:solidFill>
              </a:rPr>
              <a:t>CHD: 18,8 % en hombres vs 12,4 % en mujeres; 24,7 % con hipertensión vs 10,9 %.</a:t>
            </a:r>
            <a:endParaRPr lang="es-CL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dirty="0">
                <a:solidFill>
                  <a:srgbClr val="1B2333"/>
                </a:solidFill>
              </a:rPr>
              <a:t>Atípicos clínicos posibles: se conservaron.</a:t>
            </a:r>
            <a:endParaRPr lang="es-CL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212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Conclusión: 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edad, sexo, presión, hipertensión, tabaquismo y glucosa pasan a ser candidatas del modelo.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4</a:t>
            </a:fld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S2: qué resultados resistieron el remuestreo</a:t>
            </a:r>
            <a:endParaRPr lang="es-CL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2000" b="1" dirty="0">
                <a:solidFill>
                  <a:srgbClr val="3D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Estables</a:t>
            </a:r>
            <a:endParaRPr lang="es-C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s-CL" sz="1500" dirty="0">
                <a:solidFill>
                  <a:srgbClr val="1B2333"/>
                </a:solidFill>
              </a:rPr>
              <a:t>Correlaciones PAS–PAD 0,778, edad–PAS 0,391 e IMC–PAD 0,375</a:t>
            </a:r>
            <a:endParaRPr lang="es-CL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s-CL" sz="1500" dirty="0">
                <a:solidFill>
                  <a:srgbClr val="1B2333"/>
                </a:solidFill>
              </a:rPr>
              <a:t>Tabaquismo asociado a CHD al ajustar por edad (p &lt; 0,001)</a:t>
            </a:r>
            <a:endParaRPr lang="es-CL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2000" b="1" dirty="0">
                <a:solidFill>
                  <a:srgbClr val="B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Frágiles</a:t>
            </a:r>
            <a:endParaRPr lang="es-C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01168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s-CL" sz="1500" dirty="0">
                <a:solidFill>
                  <a:srgbClr val="1B2333"/>
                </a:solidFill>
              </a:rPr>
              <a:t>Diferencia de glucosa: baja 90 % sin atípicos</a:t>
            </a:r>
            <a:endParaRPr lang="es-CL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s-CL" sz="1500" dirty="0">
                <a:solidFill>
                  <a:srgbClr val="1B2333"/>
                </a:solidFill>
              </a:rPr>
              <a:t>Subgrupos chicos: diabetes n = 109, ACV n = 25</a:t>
            </a:r>
            <a:endParaRPr lang="es-CL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13716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5820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para la S3</a:t>
            </a:r>
            <a:endParaRPr lang="es-CL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20116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s-CL" sz="1500" dirty="0">
                <a:solidFill>
                  <a:srgbClr val="FFFFFF"/>
                </a:solidFill>
              </a:rPr>
              <a:t>Métricas para la clase minoritaria</a:t>
            </a:r>
            <a:endParaRPr lang="es-CL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s-CL" sz="1500" dirty="0">
                <a:solidFill>
                  <a:srgbClr val="FFFFFF"/>
                </a:solidFill>
              </a:rPr>
              <a:t>Imputar solo con entrenamiento</a:t>
            </a:r>
            <a:endParaRPr lang="es-CL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s-CL" sz="1500" dirty="0">
                <a:solidFill>
                  <a:srgbClr val="FFFFFF"/>
                </a:solidFill>
              </a:rPr>
              <a:t>Solo sistólica; tabaquismo e hipertensión ajustados por edad</a:t>
            </a:r>
            <a:endParaRPr lang="es-C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5</a:t>
            </a:fld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S3: imputación, tres modelos y el modelo final</a:t>
            </a:r>
            <a:endParaRPr lang="es-CL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2000" b="1" dirty="0">
                <a:solidFill>
                  <a:srgbClr val="2E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Imputación</a:t>
            </a:r>
            <a:endParaRPr lang="es-C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24612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1B2333"/>
                </a:solidFill>
              </a:rPr>
              <a:t>Eliminar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 deja 3.658 filas y pierde 87 casos de CHD.</a:t>
            </a:r>
            <a:endParaRPr lang="es-CL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1B2333"/>
                </a:solidFill>
              </a:rPr>
              <a:t>Regresión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 con predictores validados en la S2, ajustada solo con entrenamiento.</a:t>
            </a:r>
            <a:endParaRPr lang="es-CL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B3202A"/>
                </a:solidFill>
              </a:rPr>
              <a:t>Impacto en el modelo final: 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AUC 0,708–0,711 y recall 0,624–0,632 con las tres estrategias; los mismos 5 efectos significativos.</a:t>
            </a:r>
            <a:endParaRPr lang="es-CL" sz="1500" dirty="0"/>
          </a:p>
        </p:txBody>
      </p:sp>
      <p:sp>
        <p:nvSpPr>
          <p:cNvPr id="6" name="Shape 4"/>
          <p:cNvSpPr/>
          <p:nvPr/>
        </p:nvSpPr>
        <p:spPr>
          <a:xfrm>
            <a:off x="4480560" y="1371600"/>
            <a:ext cx="7132320" cy="1005840"/>
          </a:xfrm>
          <a:prstGeom prst="roundRect">
            <a:avLst>
              <a:gd name="adj" fmla="val 10909"/>
            </a:avLst>
          </a:prstGeom>
          <a:solidFill>
            <a:srgbClr val="FBEDEE"/>
          </a:solidFill>
          <a:ln w="19050">
            <a:solidFill>
              <a:srgbClr val="B320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09160" y="14447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700" b="1" dirty="0">
                <a:solidFill>
                  <a:srgbClr val="B3202A"/>
                </a:solidFill>
              </a:rPr>
              <a:t>M1 · Evidencia S1/S2  ·  FINAL</a:t>
            </a:r>
            <a:endParaRPr lang="es-CL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8288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Edad, sexo, sistólica, hipertensión, cigarrillos, glucosa (6)</a:t>
            </a:r>
            <a:endParaRPr lang="es-CL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2560320"/>
            <a:ext cx="7132320" cy="1005840"/>
          </a:xfrm>
          <a:prstGeom prst="roundRect">
            <a:avLst>
              <a:gd name="adj" fmla="val 1090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263347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700" b="1" dirty="0">
                <a:solidFill>
                  <a:srgbClr val="1B2333"/>
                </a:solidFill>
              </a:rPr>
              <a:t>M2 · Stepwise AIC</a:t>
            </a:r>
            <a:endParaRPr lang="es-CL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0175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M1 sin hipertensión + ACV, colesterol, antihipertensivos (8)</a:t>
            </a:r>
            <a:endParaRPr lang="es-CL" sz="1500" dirty="0"/>
          </a:p>
        </p:txBody>
      </p:sp>
      <p:sp>
        <p:nvSpPr>
          <p:cNvPr id="12" name="Shape 10"/>
          <p:cNvSpPr/>
          <p:nvPr/>
        </p:nvSpPr>
        <p:spPr>
          <a:xfrm>
            <a:off x="4480560" y="3749040"/>
            <a:ext cx="7132320" cy="1005840"/>
          </a:xfrm>
          <a:prstGeom prst="roundRect">
            <a:avLst>
              <a:gd name="adj" fmla="val 1090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382219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700" b="1" dirty="0">
                <a:solidFill>
                  <a:srgbClr val="1B2333"/>
                </a:solidFill>
              </a:rPr>
              <a:t>M3 · Mejor subconjunto BIC</a:t>
            </a:r>
            <a:endParaRPr lang="es-CL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2062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Edad, sexo, sistólica, cigarrillos, glucosa (5)</a:t>
            </a:r>
            <a:endParaRPr lang="es-CL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937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500" b="1" dirty="0">
                <a:solidFill>
                  <a:srgbClr val="1B2333"/>
                </a:solidFill>
              </a:rPr>
              <a:t>Por qué M1: 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mejor recall en prueba, variables respaldadas por la S1 y la S2, y el BIC elige casi las mismas sin conocerlas. Todos ponderan las clases (3,29 / 0,59).</a:t>
            </a:r>
            <a:endParaRPr lang="es-C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6</a:t>
            </a:fld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final: odds ratios e IC (Wald y bootstrap)</a:t>
            </a:r>
            <a:endParaRPr lang="es-CL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508760"/>
                <a:gridCol w="1508760"/>
                <a:gridCol w="9144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FFFFFF"/>
                          </a:solidFill>
                        </a:rPr>
                        <a:t>OR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FFFFFF"/>
                          </a:solidFill>
                        </a:rPr>
                        <a:t>IC 95 % Wald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FFFFFF"/>
                          </a:solidFill>
                        </a:rPr>
                        <a:t>IC 95 % bootstrap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1B2333"/>
                          </a:solidFill>
                        </a:rPr>
                        <a:t>Edad (+1 DE = 8,6 años)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1B2333"/>
                          </a:solidFill>
                        </a:rPr>
                        <a:t>1,92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[1,71; 2,17]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[1,71; 2,18]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&lt; 0,001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1B2333"/>
                          </a:solidFill>
                        </a:rPr>
                        <a:t>Sexo masculino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1B2333"/>
                          </a:solidFill>
                        </a:rPr>
                        <a:t>1,49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[1,17; 1,89]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[1,17; 1,90]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0,001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1B2333"/>
                          </a:solidFill>
                        </a:rPr>
                        <a:t>Presión sistólica (+1 DE)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1,33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[1,15; 1,54]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[1,15; 1,55]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&lt; 0,001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1B2333"/>
                          </a:solidFill>
                        </a:rPr>
                        <a:t>Cigarrillos por día (+1 DE)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1,32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[1,18; 1,48]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[1,18; 1,48]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&lt; 0,001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1B2333"/>
                          </a:solidFill>
                        </a:rPr>
                        <a:t>Glucosa (+1 DE)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1,19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[1,08; 1,30]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[1,08; 1,31]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&lt; 0,001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b="1" dirty="0">
                          <a:solidFill>
                            <a:srgbClr val="1B2333"/>
                          </a:solidFill>
                        </a:rPr>
                        <a:t>Hipertensión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1,28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[0,94; 1,74]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1B2333"/>
                          </a:solidFill>
                        </a:rPr>
                        <a:t>[0,94; 1,74]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500" dirty="0">
                          <a:solidFill>
                            <a:srgbClr val="B3202A"/>
                          </a:solidFill>
                        </a:rPr>
                        <a:t>0,118</a:t>
                      </a:r>
                      <a:endParaRPr lang="es-CL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12480" y="1371600"/>
            <a:ext cx="3200400" cy="4480560"/>
          </a:xfrm>
          <a:prstGeom prst="roundRect">
            <a:avLst>
              <a:gd name="adj" fmla="val 34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4108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800" b="1" dirty="0">
                <a:solidFill>
                  <a:srgbClr val="B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más importante</a:t>
            </a:r>
            <a:endParaRPr lang="es-CL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2011680"/>
            <a:ext cx="278892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1B2333"/>
                </a:solidFill>
              </a:rPr>
              <a:t>Edad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: el factor más fuerte.</a:t>
            </a:r>
            <a:endParaRPr lang="es-CL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1B2333"/>
                </a:solidFill>
              </a:rPr>
              <a:t>Sexo masculino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: 49 % más odds.</a:t>
            </a:r>
            <a:endParaRPr lang="es-CL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1B2333"/>
                </a:solidFill>
              </a:rPr>
              <a:t>5 de 6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 significativos y con efecto en la misma dirección.</a:t>
            </a:r>
            <a:endParaRPr lang="es-CL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1B2333"/>
                </a:solidFill>
              </a:rPr>
              <a:t>Hipertensión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: su IC incluye el 1.</a:t>
            </a:r>
            <a:endParaRPr lang="es-CL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100" dirty="0">
                <a:solidFill>
                  <a:srgbClr val="7A8899"/>
                </a:solidFill>
              </a:rPr>
              <a:t>OR de numéricas por 1 desviación estándar. IC bootstrap percentil, 10.000 remuestras. Wald con errores robustos.</a:t>
            </a:r>
            <a:endParaRPr lang="es-C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7</a:t>
            </a:fld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significan estos odds ratios?</a:t>
            </a:r>
            <a:endParaRPr lang="es-CL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3600" b="1" dirty="0">
                <a:solidFill>
                  <a:srgbClr val="B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2,14</a:t>
            </a:r>
            <a:endParaRPr lang="es-CL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cada 10 años de edad</a:t>
            </a:r>
            <a:endParaRPr lang="es-C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La odds de CHD se duplica con creces.</a:t>
            </a:r>
            <a:endParaRPr lang="es-CL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508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3600" b="1" dirty="0">
                <a:solidFill>
                  <a:srgbClr val="B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1,49</a:t>
            </a:r>
            <a:endParaRPr lang="es-CL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ser hombre</a:t>
            </a:r>
            <a:endParaRPr lang="es-CL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49 % más odds que una mujer con el mismo perfil.</a:t>
            </a:r>
            <a:endParaRPr lang="es-CL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1508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3600" b="1" dirty="0">
                <a:solidFill>
                  <a:srgbClr val="B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+ 27 %</a:t>
            </a:r>
            <a:endParaRPr lang="es-CL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cada 10 cigarrillos al día</a:t>
            </a:r>
            <a:endParaRPr lang="es-CL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El tabaquismo importa al ajustar por edad (como anticipó la S2).</a:t>
            </a:r>
            <a:endParaRPr lang="es-CL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40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3600" b="1" dirty="0">
                <a:solidFill>
                  <a:srgbClr val="B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+ 14 %</a:t>
            </a:r>
            <a:endParaRPr lang="es-CL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26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cada 10 mmHg de sistólica</a:t>
            </a:r>
            <a:endParaRPr lang="es-CL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92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Asociación estable; se mide en cada control.</a:t>
            </a:r>
            <a:endParaRPr lang="es-CL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37033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3840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3600" b="1" dirty="0">
                <a:solidFill>
                  <a:srgbClr val="B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+ 7 %</a:t>
            </a:r>
            <a:endParaRPr lang="es-CL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526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cada 10 mg/dL de glucosa</a:t>
            </a:r>
            <a:endParaRPr lang="es-CL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892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Efecto pequeño, pero de signo seguro.</a:t>
            </a:r>
            <a:endParaRPr lang="es-CL" sz="1400" dirty="0"/>
          </a:p>
        </p:txBody>
      </p:sp>
      <p:sp>
        <p:nvSpPr>
          <p:cNvPr id="23" name="Shape 21"/>
          <p:cNvSpPr/>
          <p:nvPr/>
        </p:nvSpPr>
        <p:spPr>
          <a:xfrm>
            <a:off x="8138160" y="37033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66760" y="3840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3600" b="1" dirty="0">
                <a:solidFill>
                  <a:srgbClr val="7A8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1,28</a:t>
            </a:r>
            <a:endParaRPr lang="es-CL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4526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hipertensión (diagnóstico)</a:t>
            </a:r>
            <a:endParaRPr lang="es-CL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892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Dirección incierta: el IC del OR incluye el 1 [0,94; 1,74].</a:t>
            </a:r>
            <a:endParaRPr lang="es-CL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100" dirty="0">
                <a:solidFill>
                  <a:srgbClr val="7A8899"/>
                </a:solidFill>
              </a:rPr>
              <a:t>Manteniendo constantes las demás variables. Odds = probabilidad de CHD / probabilidad de no CHD.</a:t>
            </a:r>
            <a:endParaRPr lang="es-C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8</a:t>
            </a:fld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Desempeño en prueba de los tres modelos</a:t>
            </a:r>
            <a:endParaRPr lang="es-CL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554480"/>
                <a:gridCol w="155448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CL" sz="1600" b="1" dirty="0">
                          <a:solidFill>
                            <a:srgbClr val="FFFFFF"/>
                          </a:solidFill>
                        </a:rPr>
                        <a:t>Modelo (prueba, n = 1.272)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CL" sz="16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CL" sz="16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CL" sz="16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CL" sz="16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CL" sz="16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600" b="1" dirty="0">
                          <a:solidFill>
                            <a:srgbClr val="1B2333"/>
                          </a:solidFill>
                        </a:rPr>
                        <a:t>M1 · S1/S2 (final)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b="1" dirty="0">
                          <a:solidFill>
                            <a:srgbClr val="1B2333"/>
                          </a:solidFill>
                        </a:rPr>
                        <a:t>0,681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b="1" dirty="0">
                          <a:solidFill>
                            <a:srgbClr val="1B2333"/>
                          </a:solidFill>
                        </a:rPr>
                        <a:t>0,267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b="1" dirty="0">
                          <a:solidFill>
                            <a:srgbClr val="1B2333"/>
                          </a:solidFill>
                        </a:rPr>
                        <a:t>0,632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b="1" dirty="0">
                          <a:solidFill>
                            <a:srgbClr val="1B2333"/>
                          </a:solidFill>
                        </a:rPr>
                        <a:t>0,375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b="1" dirty="0">
                          <a:solidFill>
                            <a:srgbClr val="1B2333"/>
                          </a:solidFill>
                        </a:rPr>
                        <a:t>0,708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M2 · Stepwise AIC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0,671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0,256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0,617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0,362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0,700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M3 · Mejor BIC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0,678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0,264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0,627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0,371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1B2333"/>
                          </a:solidFill>
                        </a:rPr>
                        <a:t>0,705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CL" sz="1600" dirty="0">
                          <a:solidFill>
                            <a:srgbClr val="7A8899"/>
                          </a:solidFill>
                        </a:rPr>
                        <a:t>M1 sin ponderar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7A8899"/>
                          </a:solidFill>
                        </a:rPr>
                        <a:t>0,847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7A8899"/>
                          </a:solidFill>
                        </a:rPr>
                        <a:t>0,480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7A8899"/>
                          </a:solidFill>
                        </a:rPr>
                        <a:t>0,062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7A8899"/>
                          </a:solidFill>
                        </a:rPr>
                        <a:t>0,110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s-CL" sz="1600" dirty="0">
                          <a:solidFill>
                            <a:srgbClr val="7A8899"/>
                          </a:solidFill>
                        </a:rPr>
                        <a:t>0,709</a:t>
                      </a:r>
                      <a:endParaRPr lang="es-CL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110642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b="1" dirty="0">
                <a:solidFill>
                  <a:srgbClr val="1B2333"/>
                </a:solidFill>
              </a:rPr>
              <a:t>Sin ponderar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: accuracy 0,85 engañosa; detecta solo 12 de 193 casos (recall 0,06).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b="1" dirty="0">
                <a:solidFill>
                  <a:srgbClr val="1B2333"/>
                </a:solidFill>
              </a:rPr>
              <a:t>Ponderado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: detecta 122 de 193 casos (recall 0,63) con el mismo AUC.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b="1" dirty="0">
                <a:solidFill>
                  <a:srgbClr val="1B2333"/>
                </a:solidFill>
              </a:rPr>
              <a:t>Los tres AUC son parecidos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 (0,700–0,708); se elige M1 por recall, parsimonia y respaldo S1/S2.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9</a:t>
            </a:fld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ROC: discriminación aceptable</a:t>
            </a:r>
            <a:endParaRPr lang="es-CL" sz="2800" dirty="0"/>
          </a:p>
        </p:txBody>
      </p:sp>
      <p:pic>
        <p:nvPicPr>
          <p:cNvPr id="3" name="Image 0" descr="Curvas ROC de los tres modelos en entrenamiento y prueb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4068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4000" b="1" dirty="0">
                <a:solidFill>
                  <a:srgbClr val="B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= 0,708</a:t>
            </a:r>
            <a:endParaRPr lang="es-CL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22128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modelo final en prueba (IC bootstrap [0,669; 0,745])</a:t>
            </a:r>
            <a:endParaRPr lang="es-CL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3108960"/>
            <a:ext cx="50292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En </a:t>
            </a:r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71 % de los pares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 persona con CHD / persona sin CHD, el modelo asigna más riesgo a quien la desarrolló.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Rango </a:t>
            </a:r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aceptable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 (0,7–0,8; Hosmer et al., 2013).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Entrenamiento 0,739 vs prueba 0,708: poco sobreajuste.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10</a:t>
            </a:fld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confusión: qué error cuesta más</a:t>
            </a:r>
            <a:endParaRPr lang="es-CL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118872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400" b="1" dirty="0">
                <a:solidFill>
                  <a:srgbClr val="7A8899"/>
                </a:solidFill>
              </a:rPr>
              <a:t>Predicho</a:t>
            </a:r>
            <a:endParaRPr lang="es-CL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300" dirty="0">
                <a:solidFill>
                  <a:srgbClr val="1B2333"/>
                </a:solidFill>
              </a:rPr>
              <a:t>Sin CHD</a:t>
            </a:r>
            <a:endParaRPr lang="es-CL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730752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300" dirty="0">
                <a:solidFill>
                  <a:srgbClr val="1B2333"/>
                </a:solidFill>
              </a:rPr>
              <a:t>CHD</a:t>
            </a:r>
            <a:endParaRPr lang="es-CL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28800"/>
            <a:ext cx="457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s-CL" sz="1400" b="1" dirty="0">
                <a:solidFill>
                  <a:srgbClr val="7A8899"/>
                </a:solidFill>
              </a:rPr>
              <a:t>Real</a:t>
            </a:r>
            <a:endParaRPr lang="es-CL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28800"/>
            <a:ext cx="548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300" dirty="0">
                <a:solidFill>
                  <a:srgbClr val="1B2333"/>
                </a:solidFill>
              </a:rPr>
              <a:t>Sin CHD</a:t>
            </a:r>
            <a:endParaRPr lang="es-CL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46120"/>
            <a:ext cx="548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300" dirty="0">
                <a:solidFill>
                  <a:srgbClr val="1B2333"/>
                </a:solidFill>
              </a:rPr>
              <a:t>CHD</a:t>
            </a:r>
            <a:endParaRPr lang="es-CL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82880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3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744</a:t>
            </a:r>
            <a:endParaRPr lang="es-CL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verdaderos negativos</a:t>
            </a:r>
            <a:endParaRPr lang="es-CL" sz="1400" dirty="0"/>
          </a:p>
        </p:txBody>
      </p:sp>
      <p:sp>
        <p:nvSpPr>
          <p:cNvPr id="12" name="Shape 10"/>
          <p:cNvSpPr/>
          <p:nvPr/>
        </p:nvSpPr>
        <p:spPr>
          <a:xfrm>
            <a:off x="3730752" y="182880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6E7D2"/>
          </a:solidFill>
          <a:ln w="12700">
            <a:solidFill>
              <a:srgbClr val="F6E7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30752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3600" b="1" dirty="0">
                <a:solidFill>
                  <a:srgbClr val="A0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335</a:t>
            </a:r>
            <a:endParaRPr lang="es-CL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falsos positivos</a:t>
            </a:r>
            <a:endParaRPr lang="es-CL" sz="1400" dirty="0"/>
          </a:p>
        </p:txBody>
      </p:sp>
      <p:sp>
        <p:nvSpPr>
          <p:cNvPr id="15" name="Shape 13"/>
          <p:cNvSpPr/>
          <p:nvPr/>
        </p:nvSpPr>
        <p:spPr>
          <a:xfrm>
            <a:off x="1463040" y="3319272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63040" y="35021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3600" b="1" dirty="0">
                <a:solidFill>
                  <a:srgbClr val="B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s-CL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87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falsos negativos</a:t>
            </a:r>
            <a:endParaRPr lang="es-CL" sz="1400" dirty="0"/>
          </a:p>
        </p:txBody>
      </p:sp>
      <p:sp>
        <p:nvSpPr>
          <p:cNvPr id="18" name="Shape 16"/>
          <p:cNvSpPr/>
          <p:nvPr/>
        </p:nvSpPr>
        <p:spPr>
          <a:xfrm>
            <a:off x="3730752" y="3319272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E3F0E8"/>
          </a:solidFill>
          <a:ln w="12700">
            <a:solidFill>
              <a:srgbClr val="E3F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0752" y="35021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3600" b="1" dirty="0">
                <a:solidFill>
                  <a:srgbClr val="3D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s-CL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3730752" y="4187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verdaderos positivos</a:t>
            </a:r>
            <a:endParaRPr lang="es-CL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1463040"/>
            <a:ext cx="52120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b="1" dirty="0">
                <a:solidFill>
                  <a:srgbClr val="1B2333"/>
                </a:solidFill>
              </a:rPr>
              <a:t>De 193 casos reales, detecta 122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 (recall 63 %).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b="1" dirty="0">
                <a:solidFill>
                  <a:srgbClr val="1B2333"/>
                </a:solidFill>
              </a:rPr>
              <a:t>71 falsos negativos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: personas que enfermarán y no serían citadas. Es el error más caro.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b="1" dirty="0">
                <a:solidFill>
                  <a:srgbClr val="1B2333"/>
                </a:solidFill>
              </a:rPr>
              <a:t>335 falsos positivos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: controles de más a personas sanas; su costo es bajo.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Por eso preferimos el modelo ponderado aunque baje la accuracy.</a:t>
            </a:r>
            <a:endParaRPr lang="es-CL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100" dirty="0">
                <a:solidFill>
                  <a:srgbClr val="7A8899"/>
                </a:solidFill>
              </a:rPr>
              <a:t>Modelo final, conjunto de prueba (n = 1.272), umbral 0,5.</a:t>
            </a:r>
            <a:endParaRPr lang="es-C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11</a:t>
            </a:fld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Bootstrap: cinco efectos estables, uno inestable</a:t>
            </a:r>
            <a:endParaRPr lang="es-CL" sz="2800" dirty="0"/>
          </a:p>
        </p:txBody>
      </p:sp>
      <p:pic>
        <p:nvPicPr>
          <p:cNvPr id="3" name="Image 0" descr="Odds ratios del modelo final con IC de Wald y bootstr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766560" cy="40050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49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200" dirty="0">
                <a:solidFill>
                  <a:srgbClr val="7A8899"/>
                </a:solidFill>
              </a:rPr>
              <a:t>10.000 remuestras del entrenamiento; modelo reajustado en cada una (técnica de la S2).</a:t>
            </a:r>
            <a:endParaRPr lang="es-CL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1325880"/>
            <a:ext cx="402336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3D7A5A"/>
                </a:solidFill>
              </a:rPr>
              <a:t>Estables: 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edad, sexo, sistólica, cigarrillos y glucosa. Cambian de signo en &lt; 0,1 % de las remuestras.</a:t>
            </a:r>
            <a:endParaRPr lang="es-CL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B3202A"/>
                </a:solidFill>
              </a:rPr>
              <a:t>Inestable: 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hipertensión. Su IC incluye el 1 y su signo se invierte en 6 % de las remuestras.</a:t>
            </a:r>
            <a:endParaRPr lang="es-CL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500" b="1" dirty="0">
                <a:solidFill>
                  <a:srgbClr val="1B2333"/>
                </a:solidFill>
              </a:rPr>
              <a:t>Bootstrap ≈ Wald</a:t>
            </a:r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 (anchos difieren hasta 3,5 %): los IC tradicionales ya usaban errores robustos. El bootstrap los confirma sin suponer normalidad.</a:t>
            </a:r>
            <a:endParaRPr lang="es-C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12</a:t>
            </a:fld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a la pregunta de investigación</a:t>
            </a:r>
            <a:endParaRPr lang="es-CL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700" i="1" dirty="0">
                <a:solidFill>
                  <a:srgbClr val="2E4A6B"/>
                </a:solidFill>
              </a:rPr>
              <a:t>¿Qué factores se asocian al riesgo de CHD a 10 años y qué tan bien permiten identificar a quienes la desarrollarán?</a:t>
            </a:r>
            <a:endParaRPr lang="es-CL" sz="1700" dirty="0"/>
          </a:p>
        </p:txBody>
      </p:sp>
      <p:sp>
        <p:nvSpPr>
          <p:cNvPr id="5" name="Shape 3"/>
          <p:cNvSpPr/>
          <p:nvPr/>
        </p:nvSpPr>
        <p:spPr>
          <a:xfrm>
            <a:off x="1115568" y="2606040"/>
            <a:ext cx="914400" cy="914400"/>
          </a:xfrm>
          <a:prstGeom prst="ellipse">
            <a:avLst/>
          </a:prstGeom>
          <a:solidFill>
            <a:srgbClr val="B3202A"/>
          </a:solidFill>
          <a:ln w="12700">
            <a:solidFill>
              <a:srgbClr val="B32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s-CL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Edad</a:t>
            </a:r>
            <a:endParaRPr lang="es-CL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× 2,14 / 10 años</a:t>
            </a:r>
            <a:endParaRPr lang="es-CL" sz="1400" dirty="0"/>
          </a:p>
        </p:txBody>
      </p:sp>
      <p:sp>
        <p:nvSpPr>
          <p:cNvPr id="9" name="Shape 7"/>
          <p:cNvSpPr/>
          <p:nvPr/>
        </p:nvSpPr>
        <p:spPr>
          <a:xfrm>
            <a:off x="3364992" y="2606040"/>
            <a:ext cx="914400" cy="914400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4992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CL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798064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Sexo masculino</a:t>
            </a:r>
            <a:endParaRPr lang="es-CL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98064" y="3977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× 1,49</a:t>
            </a:r>
            <a:endParaRPr lang="es-CL" sz="1400" dirty="0"/>
          </a:p>
        </p:txBody>
      </p:sp>
      <p:sp>
        <p:nvSpPr>
          <p:cNvPr id="13" name="Shape 11"/>
          <p:cNvSpPr/>
          <p:nvPr/>
        </p:nvSpPr>
        <p:spPr>
          <a:xfrm>
            <a:off x="5614416" y="2606040"/>
            <a:ext cx="914400" cy="914400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14416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CL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047488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Presión sistólica</a:t>
            </a:r>
            <a:endParaRPr lang="es-CL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977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+ 14 % / 10 mmHg</a:t>
            </a:r>
            <a:endParaRPr lang="es-CL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2606040"/>
            <a:ext cx="914400" cy="914400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s-CL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296912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Tabaquismo</a:t>
            </a:r>
            <a:endParaRPr lang="es-CL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296912" y="3977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+ 27 % / 10 cig.</a:t>
            </a:r>
            <a:endParaRPr lang="es-CL" sz="1400" dirty="0"/>
          </a:p>
        </p:txBody>
      </p:sp>
      <p:sp>
        <p:nvSpPr>
          <p:cNvPr id="21" name="Shape 19"/>
          <p:cNvSpPr/>
          <p:nvPr/>
        </p:nvSpPr>
        <p:spPr>
          <a:xfrm>
            <a:off x="10113264" y="2606040"/>
            <a:ext cx="914400" cy="914400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13264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s-CL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546336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Glucosa</a:t>
            </a:r>
            <a:endParaRPr lang="es-CL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46336" y="3977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400" dirty="0">
                <a:solidFill>
                  <a:srgbClr val="1B2333"/>
                </a:solidFill>
              </a:rPr>
              <a:t>+ 7 % / 10 mg/dL</a:t>
            </a:r>
            <a:endParaRPr lang="es-CL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617720"/>
            <a:ext cx="110642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b="1" dirty="0">
                <a:solidFill>
                  <a:srgbClr val="1B2333"/>
                </a:solidFill>
              </a:rPr>
              <a:t>Cinco factores con efecto estable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; la edad es el más fuerte. La hipertensión no muestra un efecto propio claro frente a la sistólica.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b="1" dirty="0">
                <a:solidFill>
                  <a:srgbClr val="1B2333"/>
                </a:solidFill>
              </a:rPr>
              <a:t>Qué tan bien: </a:t>
            </a:r>
            <a:pPr indent="0" marL="0">
              <a:buNone/>
            </a:pPr>
            <a:r>
              <a:rPr lang="es-CL" sz="1600" dirty="0">
                <a:solidFill>
                  <a:srgbClr val="1B2333"/>
                </a:solidFill>
              </a:rPr>
              <a:t>AUC 0,708 (aceptable) y detecta 63 % de los casos futuros con el modelo ponderado.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13</a:t>
            </a:fld>
            <a:endParaRPr lang="es-C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para la toma de decisiones</a:t>
            </a:r>
            <a:endParaRPr lang="es-CL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B3202A"/>
          </a:solidFill>
          <a:ln w="12700">
            <a:solidFill>
              <a:srgbClr val="B32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2000" b="1" dirty="0">
                <a:solidFill>
                  <a:srgbClr val="FFFFFF"/>
                </a:solidFill>
              </a:rPr>
              <a:t>1</a:t>
            </a:r>
            <a:endParaRPr lang="es-C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0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800" b="1" dirty="0">
                <a:solidFill>
                  <a:srgbClr val="1B2333"/>
                </a:solidFill>
              </a:rPr>
              <a:t>Priorizar el tamizaje por edad</a:t>
            </a:r>
            <a:endParaRPr lang="es-CL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286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Es el factor más fuerte y más estable: × 2,14 por cada 10 años.</a:t>
            </a:r>
            <a:endParaRPr lang="es-CL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600200"/>
            <a:ext cx="594360" cy="594360"/>
          </a:xfrm>
          <a:prstGeom prst="ellipse">
            <a:avLst/>
          </a:prstGeom>
          <a:solidFill>
            <a:srgbClr val="B3202A"/>
          </a:solidFill>
          <a:ln w="12700">
            <a:solidFill>
              <a:srgbClr val="B320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2000" b="1" dirty="0">
                <a:solidFill>
                  <a:srgbClr val="FFFFFF"/>
                </a:solidFill>
              </a:rPr>
              <a:t>2</a:t>
            </a:r>
            <a:endParaRPr lang="es-CL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600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800" b="1" dirty="0">
                <a:solidFill>
                  <a:srgbClr val="1B2333"/>
                </a:solidFill>
              </a:rPr>
              <a:t>Medir sistólica y tabaquismo en cada control</a:t>
            </a:r>
            <a:endParaRPr lang="es-CL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286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Son factores modificables con asociación estable (+14 % por 10 mmHg; +27 % por 10 cigarrillos). Registrar la medición, no solo la etiqueta de hipertensión.</a:t>
            </a:r>
            <a:endParaRPr lang="es-CL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rgbClr val="B3202A"/>
          </a:solidFill>
          <a:ln w="12700">
            <a:solidFill>
              <a:srgbClr val="B320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2000" b="1" dirty="0">
                <a:solidFill>
                  <a:srgbClr val="FFFFFF"/>
                </a:solidFill>
              </a:rPr>
              <a:t>3</a:t>
            </a:r>
            <a:endParaRPr lang="es-CL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886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800" b="1" dirty="0">
                <a:solidFill>
                  <a:srgbClr val="1B2333"/>
                </a:solidFill>
              </a:rPr>
              <a:t>Usar cada versión del modelo para lo suyo</a:t>
            </a:r>
            <a:endParaRPr lang="es-CL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572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Ponderado para decidir a quién citar (recall 0,63); sin ponderar para informar el riesgo (calibrado).</a:t>
            </a:r>
            <a:endParaRPr lang="es-CL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886200"/>
            <a:ext cx="594360" cy="594360"/>
          </a:xfrm>
          <a:prstGeom prst="ellipse">
            <a:avLst/>
          </a:prstGeom>
          <a:solidFill>
            <a:srgbClr val="B3202A"/>
          </a:solidFill>
          <a:ln w="12700">
            <a:solidFill>
              <a:srgbClr val="B320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2000" b="1" dirty="0">
                <a:solidFill>
                  <a:srgbClr val="FFFFFF"/>
                </a:solidFill>
              </a:rPr>
              <a:t>4</a:t>
            </a:r>
            <a:endParaRPr lang="es-CL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886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800" b="1" dirty="0">
                <a:solidFill>
                  <a:srgbClr val="1B2333"/>
                </a:solidFill>
              </a:rPr>
              <a:t>Validar antes de usar</a:t>
            </a:r>
            <a:endParaRPr lang="es-CL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572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sz="1500" dirty="0">
                <a:solidFill>
                  <a:srgbClr val="1B2333"/>
                </a:solidFill>
              </a:rPr>
              <a:t>Probar en una población actual y elegir el umbral según el costo de un falso negativo.</a:t>
            </a:r>
            <a:endParaRPr lang="es-C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14</a:t>
            </a:fld>
            <a:endParaRPr lang="es-C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trabajo futuro</a:t>
            </a:r>
            <a:endParaRPr lang="es-CL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2000" b="1" dirty="0">
                <a:solidFill>
                  <a:srgbClr val="B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s-C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493776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Cohorte histórica de una ciudad: asociaciones, no causas.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Imputación bajo supuesto MAR, no comprobable.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Ponderado sobreestima el riesgo (44 % vs 15 %); sin validación externa.</a:t>
            </a:r>
            <a:endParaRPr lang="es-CL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2000" b="1" dirty="0">
                <a:solidFill>
                  <a:srgbClr val="2E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s-C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11680"/>
            <a:ext cx="493776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Splines para la edad (leve no linealidad, p = 0,008).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Imputación múltiple para incluir su incertidumbre.</a:t>
            </a:r>
            <a:endParaRPr lang="es-CL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CL" sz="1600" dirty="0">
                <a:solidFill>
                  <a:srgbClr val="1B2333"/>
                </a:solidFill>
              </a:rPr>
              <a:t>Umbral según costos de error y validación con datos actuales.</a:t>
            </a:r>
            <a:endParaRPr lang="es-CL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sz="1600" b="1" dirty="0">
                <a:solidFill>
                  <a:srgbClr val="1B2333"/>
                </a:solidFill>
              </a:rPr>
              <a:t>Ninguna limitación cambia la dirección de los cinco efectos estables; sí limitan su uso clínico directo.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9"/>
                </a:solidFill>
              </a:defRPr>
            </a:lvl1pPr>
          </a:lstStyle>
          <a:p>
            <a:pPr algn="r"/>
            <a:fld id="{F7021451-1387-4CA6-816F-3879F97B5CBC}" type="slidenum">
              <a:rPr b="0" lang="es-CL"/>
              <a:t>15</a:t>
            </a:fld>
            <a:endParaRPr lang="es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s-CL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Edad, sexo, presión sistólica, tabaquismo y glucosa: cinco factores estables para priorizar la prevención</a:t>
            </a:r>
            <a:endParaRPr lang="es-CL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s-CL" sz="1800" b="1" dirty="0">
                <a:solidFill>
                  <a:srgbClr val="FFFFFF"/>
                </a:solidFill>
              </a:rPr>
              <a:t>Gracias, profesor Jean Paul Maidana González.</a:t>
            </a:r>
            <a:endParaRPr lang="es-CL" sz="1800" dirty="0"/>
          </a:p>
          <a:p>
            <a:pPr indent="0" marL="0">
              <a:spcAft>
                <a:spcPts val="600"/>
              </a:spcAft>
              <a:buNone/>
            </a:pPr>
            <a:r>
              <a:rPr lang="es-CL" sz="1800" dirty="0">
                <a:solidFill>
                  <a:srgbClr val="FFFFFF"/>
                </a:solidFill>
              </a:rPr>
              <a:t>Víctor Bravo Barrera · Nayadeth Garrido Ibáñez · Mauricio Cid</a:t>
            </a:r>
            <a:endParaRPr lang="es-CL" sz="1800" dirty="0"/>
          </a:p>
          <a:p>
            <a:pPr indent="0" marL="0">
              <a:spcAft>
                <a:spcPts val="600"/>
              </a:spcAft>
              <a:buNone/>
            </a:pPr>
            <a:r>
              <a:rPr lang="es-CL" sz="1800" dirty="0">
                <a:solidFill>
                  <a:srgbClr val="FFFFFF"/>
                </a:solidFill>
              </a:rPr>
              <a:t>github.com/vbravo29/MCDI501-estadistica-computacional</a:t>
            </a:r>
            <a:endParaRPr lang="es-CL" sz="1800" dirty="0"/>
          </a:p>
          <a:p>
            <a:pPr indent="0" marL="0">
              <a:spcAft>
                <a:spcPts val="600"/>
              </a:spcAft>
              <a:buNone/>
            </a:pPr>
            <a:r>
              <a:rPr lang="es-CL" sz="1800" b="1" dirty="0">
                <a:solidFill>
                  <a:srgbClr val="F2B8BC"/>
                </a:solidFill>
              </a:rPr>
              <a:t>¿Preguntas?</a:t>
            </a:r>
            <a:endParaRPr lang="es-CL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ingham S3">
  <a:themeElements>
    <a:clrScheme name="Framingham S3">
      <a:dk1>
        <a:srgbClr val="1B2333"/>
      </a:dk1>
      <a:lt1>
        <a:srgbClr val="FFFFFF"/>
      </a:lt1>
      <a:dk2>
        <a:srgbClr val="2E4A6B"/>
      </a:dk2>
      <a:lt2>
        <a:srgbClr val="F2F4F7"/>
      </a:lt2>
      <a:accent1>
        <a:srgbClr val="B3202A"/>
      </a:accent1>
      <a:accent2>
        <a:srgbClr val="2E4A6B"/>
      </a:accent2>
      <a:accent3>
        <a:srgbClr val="7A8899"/>
      </a:accent3>
      <a:accent4>
        <a:srgbClr val="3D7A5A"/>
      </a:accent4>
      <a:accent5>
        <a:srgbClr val="D98E2B"/>
      </a:accent5>
      <a:accent6>
        <a:srgbClr val="5B6B82"/>
      </a:accent6>
      <a:hlink>
        <a:srgbClr val="2E4A6B"/>
      </a:hlink>
      <a:folHlink>
        <a:srgbClr val="5B6B82"/>
      </a:folHlink>
    </a:clrScheme>
    <a:fontScheme name="Framingham S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Universidad Andrés Bello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Factores asociados al riesgo de enfermedad coronaria a 10 años</dc:title>
  <dc:subject>MCDI501 Sumativa 3</dc:subject>
  <dc:creator>Víctor Bravo Barrera, Nayadeth Garrido Ibáñez, Mauricio Cid</dc:creator>
  <cp:lastModifiedBy>Víctor Bravo Barrera, Nayadeth Garrido Ibáñez, Mauricio Cid</cp:lastModifiedBy>
  <cp:revision>1</cp:revision>
  <dcterms:created xsi:type="dcterms:W3CDTF">2026-10-24T19:20:03Z</dcterms:created>
  <dcterms:modified xsi:type="dcterms:W3CDTF">2026-10-24T19:20:03Z</dcterms:modified>
</cp:coreProperties>
</file>